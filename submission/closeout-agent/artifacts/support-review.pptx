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234440"/>
            <a:ext cx="1005840" cy="82296"/>
          </a:xfrm>
          <a:prstGeom prst="rect">
            <a:avLst/>
          </a:prstGeom>
          <a:solidFill>
            <a:srgbClr val="36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0"/>
            <a:ext cx="10927080" cy="22402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</a:rPr>
              <a:t>Support Operations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20624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100" b="0">
                <a:solidFill>
                  <a:srgbClr val="D8E6F1"/>
                </a:solidFill>
                <a:latin typeface="Aptos"/>
              </a:defRPr>
            </a:pPr>
            <a:r>
              <a:rPr sz="2100" b="0">
                <a:solidFill>
                  <a:srgbClr val="D8E6F1"/>
                </a:solidFill>
                <a:latin typeface="Aptos"/>
              </a:rPr>
              <a:t>Synthetic demonstration data: ticket totals and resolution rates for 2026-06 through 2026-08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D8E6F1"/>
                </a:solidFill>
                <a:latin typeface="Aptos"/>
              </a:defRPr>
            </a:pPr>
            <a:r>
              <a:rPr sz="1000" b="0">
                <a:solidFill>
                  <a:srgbClr val="D8E6F1"/>
                </a:solidFill>
                <a:latin typeface="Aptos"/>
              </a:rP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9875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42D4E"/>
                </a:solidFill>
                <a:latin typeface="Aptos"/>
              </a:defRPr>
            </a:pPr>
            <a:r>
              <a:rPr sz="2800" b="1">
                <a:solidFill>
                  <a:srgbClr val="142D4E"/>
                </a:solidFill>
                <a:latin typeface="Aptos"/>
              </a:rPr>
              <a:t>Totals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53657B"/>
                </a:solidFill>
                <a:latin typeface="Aptos"/>
              </a:defRPr>
            </a:pPr>
            <a:r>
              <a:rPr sz="1000" b="0">
                <a:solidFill>
                  <a:srgbClr val="53657B"/>
                </a:solidFill>
                <a:latin typeface="Aptos"/>
              </a:rPr>
              <a:t>02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1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Synthetic demonstration data, not production or benchmark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414015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95144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750 tickets logged across Platform and Search in three months.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200400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81528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697 tickets resolved overall, a 92.9% aggregate resolution rate.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986784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67912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Platform: 450 tickets, 417 resolved (92.7%).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773168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54296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Search: 300 tickets, 280 resolved (93.3%).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559551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440679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Figures cover 2026-06, 2026-07, and 2026-08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9875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42D4E"/>
                </a:solidFill>
                <a:latin typeface="Aptos"/>
              </a:defRPr>
            </a:pPr>
            <a:r>
              <a:rPr sz="2800" b="1">
                <a:solidFill>
                  <a:srgbClr val="142D4E"/>
                </a:solidFill>
                <a:latin typeface="Aptos"/>
              </a:rPr>
              <a:t>Team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53657B"/>
                </a:solidFill>
                <a:latin typeface="Aptos"/>
              </a:defRPr>
            </a:pPr>
            <a:r>
              <a:rPr sz="1000" b="0">
                <a:solidFill>
                  <a:srgbClr val="53657B"/>
                </a:solidFill>
                <a:latin typeface="Aptos"/>
              </a:rPr>
              <a:t>03 / 04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116586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team</a:t>
                      </a:r>
                    </a:p>
                  </a:txBody>
                  <a:tcPr marL="82296" marR="82296" marT="36576" marB="36576" anchor="ctr">
                    <a:solidFill>
                      <a:srgbClr val="142D4E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tickets</a:t>
                      </a:r>
                    </a:p>
                  </a:txBody>
                  <a:tcPr marL="82296" marR="82296" marT="36576" marB="36576" anchor="ctr">
                    <a:solidFill>
                      <a:srgbClr val="142D4E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resolved</a:t>
                      </a:r>
                    </a:p>
                  </a:txBody>
                  <a:tcPr marL="82296" marR="82296" marT="36576" marB="36576" anchor="ctr">
                    <a:solidFill>
                      <a:srgbClr val="142D4E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resolution_percent</a:t>
                      </a:r>
                    </a:p>
                  </a:txBody>
                  <a:tcPr marL="82296" marR="82296" marT="36576" marB="36576" anchor="ctr">
                    <a:solidFill>
                      <a:srgbClr val="142D4E"/>
                    </a:solidFill>
                  </a:tcPr>
                </a:tc>
              </a:tr>
              <a:tr h="116586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Platform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450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417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92.7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</a:tr>
              <a:tr h="116586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Search</a:t>
                      </a:r>
                    </a:p>
                  </a:txBody>
                  <a:tcPr marL="82296" marR="82296" marT="36576" marB="36576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300</a:t>
                      </a:r>
                    </a:p>
                  </a:txBody>
                  <a:tcPr marL="82296" marR="82296" marT="36576" marB="36576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280</a:t>
                      </a:r>
                    </a:p>
                  </a:txBody>
                  <a:tcPr marL="82296" marR="82296" marT="36576" marB="36576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93.3</a:t>
                      </a:r>
                    </a:p>
                  </a:txBody>
                  <a:tcPr marL="82296" marR="82296" marT="36576" marB="36576" anchor="ctr">
                    <a:solidFill>
                      <a:srgbClr val="F7FAFC"/>
                    </a:solidFill>
                  </a:tcPr>
                </a:tc>
              </a:tr>
              <a:tr h="116586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750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697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92.9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9875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42D4E"/>
                </a:solidFill>
                <a:latin typeface="Aptos"/>
              </a:defRPr>
            </a:pPr>
            <a:r>
              <a:rPr sz="2800" b="1">
                <a:solidFill>
                  <a:srgbClr val="142D4E"/>
                </a:solidFill>
                <a:latin typeface="Aptos"/>
              </a:rPr>
              <a:t>Scope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53657B"/>
                </a:solidFill>
                <a:latin typeface="Aptos"/>
              </a:defRPr>
            </a:pPr>
            <a:r>
              <a:rPr sz="1000" b="0">
                <a:solidFill>
                  <a:srgbClr val="53657B"/>
                </a:solidFill>
                <a:latin typeface="Aptos"/>
              </a:rPr>
              <a:t>04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1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Synthetic demo dataset generated for illustration; not real operational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414015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95144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Two teams and three months only, so no seasonal or long-run trend is claimed.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200400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81528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Percentages are rounded to one decimal and derived from this CSV alone.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986784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67912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Only tickets and resolved counts were supplied; no quality or incident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773168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54296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Resolution percent is resolved divided by tickets for each row.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559551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440679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No performance, staffing, or quality conclusions are drawn.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Operations Review</dc:title>
  <dc:subject>Synthetic demonstration data: ticket totals and resolution rates for 2026-06 through 2026-08</dc:subject>
  <dc:creator>Presentation Builder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